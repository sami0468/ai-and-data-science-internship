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introduce the AI Client Onboarding &amp; Project Proposal Agent, emphasize human-in-the-loop control and the tech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problem: incomplete requirements, slow manual work, inconsistent quality, overlooked budget/timeline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Six-step solution pipeline: validate, analyze, research, generate, quality-check, approve.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flow diagram: Client Request through Validation, Analysis, Research, Proposal, Quality Check, Human Approval, to Final Proposal.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Results: 8 scenarios across 4 categories, evaluated on 6 criteria; requirement handling flagged as improvement area; added failure handling and human oversight.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value: time savings, consistency, error reduction, controlled automation. Next steps: bigger knowledge base, clarification, monitoring, persistence, expanded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reinforcing the stakeholder narrative arc: Problem to Solution to Business Value to Results to Future.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3840480" cy="384048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00D9C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97840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868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PRESENTATION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Client Onboarding &amp;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Proposal Agent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client requirement analysis and proposal generation — with a human always in the loop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4800600"/>
            <a:ext cx="3977640" cy="502920"/>
          </a:xfrm>
          <a:prstGeom prst="roundRect">
            <a:avLst>
              <a:gd name="adj" fmla="val 50000"/>
            </a:avLst>
          </a:prstGeom>
          <a:solidFill>
            <a:srgbClr val="1E2761">
              <a:alpha val="85000"/>
            </a:srgbClr>
          </a:solidFill>
          <a:ln w="12700">
            <a:solidFill>
              <a:srgbClr val="00D9C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928616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4800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LangGraph + FastAPI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74920" y="4800600"/>
            <a:ext cx="3977640" cy="502920"/>
          </a:xfrm>
          <a:prstGeom prst="roundRect">
            <a:avLst>
              <a:gd name="adj" fmla="val 50000"/>
            </a:avLst>
          </a:prstGeom>
          <a:solidFill>
            <a:srgbClr val="1E2761">
              <a:alpha val="85000"/>
            </a:srgbClr>
          </a:solidFill>
          <a:ln w="12700">
            <a:solidFill>
              <a:srgbClr val="00D9C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492861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32120" y="4800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on Final Output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822960" y="59893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→  Solution  →  Business Value  →  Results  →  Future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E2761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manual proposal workflows are holding teams back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37744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5146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235915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Requirements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315468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requirements are often incomplete, leaving gaps for downstream work.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55080" y="210312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29400" y="237744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5146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06640" y="235915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Turnaround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629400" y="315468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proposal creation takes significant time from sales and delivery teams.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416052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43484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57200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441655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Quality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22960" y="521208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quality varies depending on who writes it and how much time they have.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355080" y="416052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629400" y="443484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57200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06640" y="441655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Overlooked Risk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629400" y="521208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Unrealistic budgets or timelines can slip through unnoticed until it is too late.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Client Onboarding &amp; Project Proposal Agent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E2761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six-step agentic workflow, from raw request to approved proposal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4747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46120" y="213055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2313432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432304"/>
            <a:ext cx="265176" cy="2651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2953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Client Request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77240" y="3291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request is well-formed and actionable.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43400" y="2057400"/>
            <a:ext cx="34747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040880" y="213055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4572000" y="2313432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2432304"/>
            <a:ext cx="265176" cy="2651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0" y="2953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Requirements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572000" y="3291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down stated and implied needs.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138160" y="2057400"/>
            <a:ext cx="34747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10835640" y="213055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8366760" y="2313432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2432304"/>
            <a:ext cx="265176" cy="26517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66760" y="2953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Services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8366760" y="3291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needs to relevant service offerings.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48640" y="4114800"/>
            <a:ext cx="34747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3246120" y="418795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Shape 21"/>
          <p:cNvSpPr/>
          <p:nvPr/>
        </p:nvSpPr>
        <p:spPr>
          <a:xfrm>
            <a:off x="777240" y="4370832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489704"/>
            <a:ext cx="265176" cy="26517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77240" y="50109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Proposal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777240" y="5349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tailored project proposal.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4343400" y="4114800"/>
            <a:ext cx="34747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7040880" y="418795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Shape 26"/>
          <p:cNvSpPr/>
          <p:nvPr/>
        </p:nvSpPr>
        <p:spPr>
          <a:xfrm>
            <a:off x="4572000" y="4370832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4489704"/>
            <a:ext cx="265176" cy="26517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572000" y="50109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Safety Check</a:t>
            </a:r>
            <a:endParaRPr lang="en-US" sz="1350" dirty="0"/>
          </a:p>
        </p:txBody>
      </p:sp>
      <p:sp>
        <p:nvSpPr>
          <p:cNvPr id="35" name="Text 28"/>
          <p:cNvSpPr/>
          <p:nvPr/>
        </p:nvSpPr>
        <p:spPr>
          <a:xfrm>
            <a:off x="4572000" y="5349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for errors, gaps, and risk.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8138160" y="4114800"/>
            <a:ext cx="34747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37" name="Text 30"/>
          <p:cNvSpPr/>
          <p:nvPr/>
        </p:nvSpPr>
        <p:spPr>
          <a:xfrm>
            <a:off x="10835640" y="418795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8" name="Shape 31"/>
          <p:cNvSpPr/>
          <p:nvPr/>
        </p:nvSpPr>
        <p:spPr>
          <a:xfrm>
            <a:off x="8366760" y="4370832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4489704"/>
            <a:ext cx="265176" cy="26517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366760" y="50109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1350" dirty="0"/>
          </a:p>
        </p:txBody>
      </p:sp>
      <p:sp>
        <p:nvSpPr>
          <p:cNvPr id="41" name="Text 33"/>
          <p:cNvSpPr/>
          <p:nvPr/>
        </p:nvSpPr>
        <p:spPr>
          <a:xfrm>
            <a:off x="8366760" y="5349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reviews and signs off before delivery.</a:t>
            </a:r>
            <a:endParaRPr lang="en-US" sz="1050" dirty="0"/>
          </a:p>
        </p:txBody>
      </p:sp>
      <p:sp>
        <p:nvSpPr>
          <p:cNvPr id="42" name="Text 34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Client Onboarding &amp; Project Proposal Agent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powered by LangGraph orchestration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3520440"/>
            <a:ext cx="1188720" cy="11887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611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813048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691640" y="4114800"/>
            <a:ext cx="235131" cy="0"/>
          </a:xfrm>
          <a:prstGeom prst="line">
            <a:avLst/>
          </a:prstGeom>
          <a:noFill/>
          <a:ln w="25400">
            <a:solidFill>
              <a:srgbClr val="3A448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926771" y="3520440"/>
            <a:ext cx="1188720" cy="11887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6771" y="3611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72491" y="3813048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15491" y="4114800"/>
            <a:ext cx="235131" cy="0"/>
          </a:xfrm>
          <a:prstGeom prst="line">
            <a:avLst/>
          </a:prstGeom>
          <a:noFill/>
          <a:ln w="25400">
            <a:solidFill>
              <a:srgbClr val="3A448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350623" y="3520440"/>
            <a:ext cx="1188720" cy="11887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0623" y="3611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96343" y="3813048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39343" y="4114800"/>
            <a:ext cx="235131" cy="0"/>
          </a:xfrm>
          <a:prstGeom prst="line">
            <a:avLst/>
          </a:prstGeom>
          <a:noFill/>
          <a:ln w="25400">
            <a:solidFill>
              <a:srgbClr val="3A448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774474" y="3520440"/>
            <a:ext cx="1188720" cy="11887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4474" y="3611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0194" y="3813048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63194" y="4114800"/>
            <a:ext cx="235131" cy="0"/>
          </a:xfrm>
          <a:prstGeom prst="line">
            <a:avLst/>
          </a:prstGeom>
          <a:noFill/>
          <a:ln w="25400">
            <a:solidFill>
              <a:srgbClr val="3A448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198326" y="3520440"/>
            <a:ext cx="1188720" cy="11887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8326" y="3611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44046" y="3813048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87046" y="4114800"/>
            <a:ext cx="235131" cy="0"/>
          </a:xfrm>
          <a:prstGeom prst="line">
            <a:avLst/>
          </a:prstGeom>
          <a:noFill/>
          <a:ln w="25400">
            <a:solidFill>
              <a:srgbClr val="3A448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622177" y="3520440"/>
            <a:ext cx="1188720" cy="11887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22177" y="3611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67897" y="3813048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810897" y="4114800"/>
            <a:ext cx="235131" cy="0"/>
          </a:xfrm>
          <a:prstGeom prst="line">
            <a:avLst/>
          </a:prstGeom>
          <a:noFill/>
          <a:ln w="25400">
            <a:solidFill>
              <a:srgbClr val="3A448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046029" y="3520440"/>
            <a:ext cx="1188720" cy="1188720"/>
          </a:xfrm>
          <a:prstGeom prst="ellipse">
            <a:avLst/>
          </a:prstGeom>
          <a:solidFill>
            <a:srgbClr val="00D9C0"/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46029" y="3611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091749" y="3813048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0234749" y="4114800"/>
            <a:ext cx="235131" cy="0"/>
          </a:xfrm>
          <a:prstGeom prst="line">
            <a:avLst/>
          </a:prstGeom>
          <a:noFill/>
          <a:ln w="25400">
            <a:solidFill>
              <a:srgbClr val="3A448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469880" y="3520440"/>
            <a:ext cx="1188720" cy="11887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69880" y="3611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515600" y="3813048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2331720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22677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End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377440" y="2331720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51760" y="22677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Stage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2331720"/>
            <a:ext cx="201168" cy="201168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0" y="22677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Client Onboarding &amp; Project Proposal Agent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E2761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Evaluation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Stress-tested across realistic and adversarial scenarios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920240" y="2148840"/>
            <a:ext cx="1874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06240" y="210312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214884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577840" y="2148840"/>
            <a:ext cx="1874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Criteria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63840" y="210312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092440" y="214884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9235440" y="2148840"/>
            <a:ext cx="1874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Types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794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383280" y="379476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3794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79476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3794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Unrealistic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052560" y="379476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0" y="3794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53035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4672" y="48280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4946904"/>
            <a:ext cx="292608" cy="29260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508760" y="48280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Improvement Area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804672" y="53949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and constraint handling identified as the primary area to strengthen.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126480" y="4572000"/>
            <a:ext cx="53035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382512" y="48280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4946904"/>
            <a:ext cx="292608" cy="29260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086600" y="48280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Safeguards Added</a:t>
            </a:r>
            <a:endParaRPr lang="en-US" sz="1450" dirty="0"/>
          </a:p>
        </p:txBody>
      </p:sp>
      <p:sp>
        <p:nvSpPr>
          <p:cNvPr id="32" name="Text 28"/>
          <p:cNvSpPr/>
          <p:nvPr/>
        </p:nvSpPr>
        <p:spPr>
          <a:xfrm>
            <a:off x="6382512" y="53949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handling and human oversight layered in to reduce downstream risk.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Client Onboarding &amp; Project Proposal Agent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E2761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 &amp; Next Steps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514600"/>
            <a:ext cx="457200" cy="457200"/>
          </a:xfrm>
          <a:prstGeom prst="ellipse">
            <a:avLst/>
          </a:prstGeom>
          <a:solidFill>
            <a:srgbClr val="2B357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61518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48716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Preparation Time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463040" y="280720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hours out of manual proposal drafting.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68680" y="3410712"/>
            <a:ext cx="457200" cy="457200"/>
          </a:xfrm>
          <a:prstGeom prst="ellipse">
            <a:avLst/>
          </a:prstGeom>
          <a:solidFill>
            <a:srgbClr val="2B357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351129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33832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Consistency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463040" y="37033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proposal follows the same rigorous process.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68680" y="4306824"/>
            <a:ext cx="457200" cy="457200"/>
          </a:xfrm>
          <a:prstGeom prst="ellipse">
            <a:avLst/>
          </a:prstGeom>
          <a:solidFill>
            <a:srgbClr val="2B357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40740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27939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Errors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63040" y="459943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quality and safety checks catch issues early.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68680" y="5202936"/>
            <a:ext cx="457200" cy="457200"/>
          </a:xfrm>
          <a:prstGeom prst="ellipse">
            <a:avLst/>
          </a:prstGeom>
          <a:solidFill>
            <a:srgbClr val="2B357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5303520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517550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Automation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1463040" y="549554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keeps final output accountable.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080760" y="1737360"/>
            <a:ext cx="553212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40080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6400800" y="248716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2569464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03720" y="24505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Knowledge Base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6903720" y="27340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the service and reference catalog.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400800" y="320954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3096" y="3291840"/>
            <a:ext cx="219456" cy="21945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903720" y="31729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Clarification Mechanism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6903720" y="34564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sharper follow-up questions on gaps.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6400800" y="393192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3096" y="4014216"/>
            <a:ext cx="219456" cy="21945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903720" y="38953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Monitoring Dashboard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6903720" y="41788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performance and failures live.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6400800" y="4654296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3096" y="4736592"/>
            <a:ext cx="219456" cy="219456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903720" y="46177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 Storage</a:t>
            </a:r>
            <a:endParaRPr lang="en-US" sz="1250" dirty="0"/>
          </a:p>
        </p:txBody>
      </p:sp>
      <p:sp>
        <p:nvSpPr>
          <p:cNvPr id="40" name="Text 30"/>
          <p:cNvSpPr/>
          <p:nvPr/>
        </p:nvSpPr>
        <p:spPr>
          <a:xfrm>
            <a:off x="6903720" y="49011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history across client sessions.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6400800" y="537667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3096" y="5458968"/>
            <a:ext cx="219456" cy="219456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6903720" y="53400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Evaluation</a:t>
            </a:r>
            <a:endParaRPr lang="en-US" sz="1250" dirty="0"/>
          </a:p>
        </p:txBody>
      </p:sp>
      <p:sp>
        <p:nvSpPr>
          <p:cNvPr id="44" name="Text 33"/>
          <p:cNvSpPr/>
          <p:nvPr/>
        </p:nvSpPr>
        <p:spPr>
          <a:xfrm>
            <a:off x="6903720" y="5623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scenario and criteria coverage further.</a:t>
            </a:r>
            <a:endParaRPr lang="en-US" sz="1000" dirty="0"/>
          </a:p>
        </p:txBody>
      </p:sp>
      <p:sp>
        <p:nvSpPr>
          <p:cNvPr id="45" name="Text 34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Client Onboarding &amp; Project Proposal Agent</a:t>
            </a:r>
            <a:endParaRPr lang="en-US" sz="900" dirty="0"/>
          </a:p>
        </p:txBody>
      </p:sp>
      <p:sp>
        <p:nvSpPr>
          <p:cNvPr id="46" name="Text 3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931920"/>
            <a:ext cx="5029200" cy="502920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1828800"/>
            <a:ext cx="4114800" cy="41148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005840"/>
            <a:ext cx="1371600" cy="1371600"/>
          </a:xfrm>
          <a:prstGeom prst="ellipse">
            <a:avLst/>
          </a:prstGeom>
          <a:solidFill>
            <a:srgbClr val="00D9C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135331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26060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508760" y="3429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Controlled, consistent, human-approved proposal automation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36676" y="443484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836676" y="4434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24" y="4562856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75788" y="443484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2" name="Text 8"/>
          <p:cNvSpPr/>
          <p:nvPr/>
        </p:nvSpPr>
        <p:spPr>
          <a:xfrm>
            <a:off x="2875788" y="4434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436" y="4562856"/>
            <a:ext cx="237744" cy="23774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914900" y="443484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5" name="Text 10"/>
          <p:cNvSpPr/>
          <p:nvPr/>
        </p:nvSpPr>
        <p:spPr>
          <a:xfrm>
            <a:off x="4914900" y="4434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548" y="4562856"/>
            <a:ext cx="237744" cy="2377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954012" y="443484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2"/>
          <p:cNvSpPr/>
          <p:nvPr/>
        </p:nvSpPr>
        <p:spPr>
          <a:xfrm>
            <a:off x="6954012" y="4434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9660" y="4562856"/>
            <a:ext cx="237744" cy="23774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8993124" y="443484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00D9C0"/>
          </a:solidFill>
          <a:ln/>
        </p:spPr>
      </p:sp>
      <p:sp>
        <p:nvSpPr>
          <p:cNvPr id="21" name="Text 14"/>
          <p:cNvSpPr/>
          <p:nvPr/>
        </p:nvSpPr>
        <p:spPr>
          <a:xfrm>
            <a:off x="8993124" y="4434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Client Onboarding &amp; Project Proposal Agent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2026-09-11T17:34:53Z</dcterms:created>
  <dcterms:modified xsi:type="dcterms:W3CDTF">2026-09-11T17:34:53Z</dcterms:modified>
</cp:coreProperties>
</file>